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Коротко: что за задача, как устроено решение, как мы его проверяли и почему оно лучше альтернатив. Все цифры воспроизводятся одним ноутбуком.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с самого начала: данные — это средние траты одного жителя, а не оборот муниципалитета. Ошибка прогноза поэтому измеряется в рублях на жителя в месяц.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Линии сетки — 20, 25 и 30 тысяч рублей. Декабрьский пик: 28,2 тыс. в 2023 и 32,2 тыс. в 2024. Отсюда вся логика нашего прогноза: сезонность берём из прошлого года, а рост добавляем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иллюстративный: 26 600 рублей — реальная медиана марта 2024, проценты роста условные. Рост муниципалитета считается как средний прирост последних трёх месяцев к тем же месяцам прошлого года.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стандартная схема проверки прогнозов, rolling origin. На схеме — прогноз на месяц вперёд; на 3, 6 и 12 месяцев устроено так же, только целевой месяц дальше. Горизонт 12 месяцев можно проверить только один раз: данных всего 24 месяца.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строка — первая: на месяц вперёд наша ошибка на 20% меньше, чем у Prophet. На 12 месяцев разница почти вдвое, но это одна проверка, поэтому показываем её как иллюстрацию. Chronos-Bolt — современная нейросетевая модель, о ней на следующем слайде.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главный слайд с объяснением. Простая модель выигрывает не потому, что она простая, а потому, что использует два знания, которых нет у других: прошлогодний месяц даёт сезонность, а рост всех муниципалитетов вместе даёт надёжную поправку на инфляцию. LightGBM — градиентный бустинг — тоже участвовал: на ранних проверках он хуже, а на поздних обгоняет простую модель (395 против 461 ₽), то есть с накоплением данных стоит переходить на него.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ключевая идея. Если искать скачки в исходных рядах, «переломом» окажется рост цен: в первой версии проекта детектор в каждой категории находил ровно один перелом — переход 2023 → 2024 года, то есть инфляцию.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«Сдвиг окна» ловит почти столько же, сколько лучшие методы, которые смотрят на весь ряд задним числом, но работает в реальном времени и почти без задержки. Честный предел данных: на 24 месяцах надёжно видны скачки от 10–20%; скачки около 5% от обычных колебаний не отличить.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Анонс события с датой, например «торговый центр откроется в мае», позволяет предупредить о шоке ещё до того, как он виден в данных. Время учитывается без утечки: новость месяца t используется только в прогнозах, сделанных с этого месяца. Коды муниципалитетов в данных — внутренние номера СберИндекса, а не ОКТМО, поэтому для реальной привязки нужен справочник от организаторов.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Типы найдены сетью «двойников» (похожие по структуре расходов муниципалитеты связаны) и алгоритмом Louvain; при повторных запусках разбиение почти не меняется (индекс согласия ARI 0,90 из 1). Названия — наши рабочие гипотезы, их стоит сверить с конкретными муниципалитетами. Вывод для управления: одним муниципалитетам достаточно прогноза, другим нужен мониторинг.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в одной фразе: простая модель, которая учитывает сезонность через прошлый год и рост через все муниципалитеты сразу, оказалась точнее и Prophet, и современной нейросети; а детектор, сравнивающий муниципалитет с остальными, замечает шоки в тот же месяц. Ограничения называем 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45540"/>
            <a:ext cx="10566401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F1B2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7060"/>
            <a:ext cx="10566400" cy="416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45540"/>
            <a:ext cx="10566401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F1B2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7060"/>
            <a:ext cx="10566400" cy="416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BB3A3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5FD3C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КЕЙС СБЕРИНДЕКСА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755140"/>
            <a:ext cx="9156701" cy="247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b="1" i="0" dirty="0">
                <a:solidFill>
                  <a:srgbClr val="F4F1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Прогноз потребления муниципалитетов и раннее обнаружение шоков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12800" y="4462780"/>
            <a:ext cx="8502651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5CE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мы прогнозируем расходы жителей 2016 муниципалитетов точнее базовой модели Prophet и замечаем резкие изменения в первый же месяц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796280"/>
            <a:ext cx="2270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2016</a:t>
            </a:r>
            <a:r>
              <a:rPr lang="en-US" sz="1400" dirty="0">
                <a:solidFill>
                  <a:srgbClr val="C5CE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муниципалитетов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83269" y="5796280"/>
            <a:ext cx="216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r>
              <a:rPr lang="en-US" sz="1400" dirty="0">
                <a:solidFill>
                  <a:srgbClr val="C5CE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категорий расходов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48858" y="5796280"/>
            <a:ext cx="2261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</a:t>
            </a:r>
            <a:r>
              <a:rPr lang="en-US" sz="1400" dirty="0">
                <a:solidFill>
                  <a:srgbClr val="C5CE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месяца: 2023–2024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1"/>
            <a:ext cx="108833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· ЗАДАЧА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0"/>
            <a:ext cx="10883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нужно было сделать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51661"/>
            <a:ext cx="5156200" cy="2668270"/>
          </a:xfrm>
          <a:prstGeom prst="roundRect">
            <a:avLst>
              <a:gd name="adj" fmla="val 2856"/>
            </a:avLst>
          </a:prstGeom>
          <a:solidFill>
            <a:srgbClr val="FBFAF6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51661"/>
            <a:ext cx="5156200" cy="2668270"/>
          </a:xfrm>
          <a:custGeom>
            <a:avLst/>
            <a:gdLst/>
            <a:ahLst/>
            <a:cxnLst/>
            <a:rect l="l" t="t" r="r" b="b"/>
            <a:pathLst>
              <a:path w="5156200" h="2668270">
                <a:moveTo>
                  <a:pt x="76200" y="2668270"/>
                </a:moveTo>
                <a:lnTo>
                  <a:pt x="76200" y="266827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2592070"/>
                </a:lnTo>
                <a:arcTo hR="76200" wR="25400" stAng="10800000" swAng="-5400000"/>
                <a:close/>
              </a:path>
            </a:pathLst>
          </a:cu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1117600" y="2105661"/>
            <a:ext cx="473532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Данные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7600" y="2494280"/>
            <a:ext cx="4735322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Сколько в среднем тратит по карте один житель муниципалитета за месяц. Шесть категорий: продукты, здоровье, общепит, транспорт, маркетплейсы и все траты вместе.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7600" y="3713480"/>
            <a:ext cx="473532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2016 муниципалитетов с полной историей, январь 2023 – декабрь 2024.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23000" y="1851661"/>
            <a:ext cx="5156200" cy="2668270"/>
          </a:xfrm>
          <a:prstGeom prst="roundRect">
            <a:avLst>
              <a:gd name="adj" fmla="val 2856"/>
            </a:avLst>
          </a:prstGeom>
          <a:solidFill>
            <a:srgbClr val="FBFAF6"/>
          </a:solidFill>
          <a:ln/>
        </p:spPr>
      </p:sp>
      <p:sp>
        <p:nvSpPr>
          <p:cNvPr id="10" name="Shape 8"/>
          <p:cNvSpPr/>
          <p:nvPr/>
        </p:nvSpPr>
        <p:spPr>
          <a:xfrm>
            <a:off x="6223000" y="1851661"/>
            <a:ext cx="5156200" cy="2668270"/>
          </a:xfrm>
          <a:custGeom>
            <a:avLst/>
            <a:gdLst/>
            <a:ahLst/>
            <a:cxnLst/>
            <a:rect l="l" t="t" r="r" b="b"/>
            <a:pathLst>
              <a:path w="5156200" h="2668270">
                <a:moveTo>
                  <a:pt x="76200" y="2668270"/>
                </a:moveTo>
                <a:lnTo>
                  <a:pt x="76200" y="266827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76200" y="0"/>
                </a:lnTo>
                <a:arcTo hR="76200" wR="25400" stAng="16200000" swAng="-5400000"/>
                <a:lnTo>
                  <a:pt x="50800" y="2592070"/>
                </a:lnTo>
                <a:arcTo hR="76200" wR="25400" stAng="10800000" swAng="-5400000"/>
                <a:close/>
              </a:path>
            </a:pathLst>
          </a:custGeom>
          <a:solidFill>
            <a:srgbClr val="D1495B"/>
          </a:solidFill>
          <a:ln/>
        </p:spPr>
      </p:sp>
      <p:sp>
        <p:nvSpPr>
          <p:cNvPr id="11" name="Text 9"/>
          <p:cNvSpPr/>
          <p:nvPr/>
        </p:nvSpPr>
        <p:spPr>
          <a:xfrm>
            <a:off x="6527800" y="2105661"/>
            <a:ext cx="473532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Задание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7800" y="2494280"/>
            <a:ext cx="473532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</a:t>
            </a:r>
            <a:r>
              <a:rPr lang="en-US" sz="15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Прогнозировать траты на 1, 3, 6 и 12 месяцев вперёд — точнее базовой модели Prophet.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7800" y="3161030"/>
            <a:ext cx="473532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</a:t>
            </a:r>
            <a:r>
              <a:rPr lang="en-US" sz="15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Как можно раньше замечать шоки — резкие изменения трат в конкретном муниципалитете.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27800" y="3827780"/>
            <a:ext cx="473532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</a:t>
            </a:r>
            <a:r>
              <a:rPr lang="en-US" sz="15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Предложить, как использовать новости.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4799330"/>
            <a:ext cx="10566401" cy="622300"/>
          </a:xfrm>
          <a:prstGeom prst="roundRect">
            <a:avLst>
              <a:gd name="adj" fmla="val 12245"/>
            </a:avLst>
          </a:prstGeom>
          <a:solidFill>
            <a:srgbClr val="E4EFEC"/>
          </a:solidFill>
          <a:ln/>
        </p:spPr>
        <p:txBody>
          <a:bodyPr wrap="square" lIns="231682" tIns="155482" rIns="0" bIns="1300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Главная метрика — MAE:</a:t>
            </a:r>
            <a:r>
              <a:rPr lang="en-US" sz="1500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на сколько рублей в среднем прогноз отличается от факта. Чем меньше, тем лучше.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· ЧТО ВИДНО В ДАННЫХ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1"/>
            <a:ext cx="11379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Два эффекта, которые нельзя игнорировать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7061"/>
            <a:ext cx="36626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E7C7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Сезонность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186941"/>
            <a:ext cx="3662680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декабре траты на 20% выше, чем в ноябре; в январе — резкий спад. Каждый год одно и то же.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163571"/>
            <a:ext cx="366268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D1495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цен и доходов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2800" y="3473452"/>
            <a:ext cx="366268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Каждый месяц 2024 года на 9–19% выше того же месяца 2023-го.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4192271"/>
            <a:ext cx="3662680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Модель, которая не учитывает хотя бы один эффект, будет ошибаться систематически.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75200" y="1877061"/>
            <a:ext cx="5682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2023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51952" y="1877061"/>
            <a:ext cx="571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E7C7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●</a:t>
            </a:r>
            <a:r>
              <a:rPr lang="en-US" sz="1200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2024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31216" y="1877061"/>
            <a:ext cx="40941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медиана «Все категории», ₽ на жителя в месяц</a:t>
            </a:r>
            <a:endParaRPr lang="en-US" sz="1200" dirty="0"/>
          </a:p>
        </p:txBody>
      </p:sp>
      <p:pic>
        <p:nvPicPr>
          <p:cNvPr id="12" name="Image 0" descr="Медиана трат на жителя по месяцам: 2024 год выше 2023-го в каждом месяце, в декабре пик">    </p:cNvPr>
          <p:cNvPicPr>
            <a:picLocks noChangeAspect="1"/>
          </p:cNvPicPr>
          <p:nvPr/>
        </p:nvPicPr>
        <p:blipFill>
          <a:blip r:embed="rId1"/>
          <a:srcRect l="-20" r="-20" t="0" b="0"/>
          <a:stretch/>
        </p:blipFill>
        <p:spPr>
          <a:xfrm>
            <a:off x="4775200" y="2166621"/>
            <a:ext cx="6604000" cy="3175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75200" y="5417821"/>
            <a:ext cx="3070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янв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14087" y="5417821"/>
            <a:ext cx="336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мар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77315" y="5417821"/>
            <a:ext cx="3321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май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37077" y="5417821"/>
            <a:ext cx="3539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июл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015016" y="5417821"/>
            <a:ext cx="3162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сен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61522" y="5417821"/>
            <a:ext cx="3173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ноя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054843" y="5417821"/>
            <a:ext cx="3243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дек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· НАШ ПРОГНОЗ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9"/>
            <a:ext cx="10883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Прогноз = прошлый год × рост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7059"/>
            <a:ext cx="3159522" cy="901700"/>
          </a:xfrm>
          <a:prstGeom prst="roundRect">
            <a:avLst>
              <a:gd name="adj" fmla="val 11268"/>
            </a:avLst>
          </a:prstGeom>
          <a:solidFill>
            <a:srgbClr val="0F1B2D"/>
          </a:solidFill>
          <a:ln/>
        </p:spPr>
        <p:txBody>
          <a:bodyPr wrap="square" lIns="132146" tIns="173442" rIns="132145" bIns="148042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4F1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Траты в том же месяце год назад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24722" y="2078989"/>
            <a:ext cx="27127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0E7C7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497600" y="2000884"/>
            <a:ext cx="3159548" cy="654050"/>
          </a:xfrm>
          <a:prstGeom prst="roundRect">
            <a:avLst>
              <a:gd name="adj" fmla="val 15534"/>
            </a:avLst>
          </a:prstGeom>
          <a:solidFill>
            <a:srgbClr val="0E7C7B"/>
          </a:solidFill>
          <a:ln/>
        </p:spPr>
        <p:txBody>
          <a:bodyPr wrap="square" lIns="132145" tIns="173442" rIns="132145" bIns="148042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(1 + годовой рост)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09548" y="2078989"/>
            <a:ext cx="27127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0E7C7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=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191950" y="1991782"/>
            <a:ext cx="3177725" cy="672253"/>
          </a:xfrm>
          <a:prstGeom prst="roundRect">
            <a:avLst>
              <a:gd name="adj" fmla="val 13696"/>
            </a:avLst>
          </a:prstGeom>
          <a:solidFill>
            <a:srgbClr val="FBFAF6"/>
          </a:solidFill>
          <a:ln w="19050">
            <a:solidFill>
              <a:srgbClr val="0F1B2D"/>
            </a:solidFill>
            <a:prstDash val="solid"/>
          </a:ln>
        </p:spPr>
        <p:txBody>
          <a:bodyPr wrap="square" lIns="144037" tIns="185334" rIns="144037" bIns="159934" rtlCol="0" anchor="t">
            <a:normAutofit/>
          </a:bodyPr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 на нужный месяц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800" y="3083559"/>
            <a:ext cx="5156200" cy="2339340"/>
          </a:xfrm>
          <a:prstGeom prst="roundRect">
            <a:avLst>
              <a:gd name="adj" fmla="val 3257"/>
            </a:avLst>
          </a:prstGeom>
          <a:solidFill>
            <a:srgbClr val="FBFAF6"/>
          </a:solidFill>
          <a:ln/>
        </p:spPr>
      </p:sp>
      <p:sp>
        <p:nvSpPr>
          <p:cNvPr id="10" name="Text 8"/>
          <p:cNvSpPr/>
          <p:nvPr/>
        </p:nvSpPr>
        <p:spPr>
          <a:xfrm>
            <a:off x="1092200" y="3362959"/>
            <a:ext cx="473532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Пример: март 2025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2200" y="3708400"/>
            <a:ext cx="473532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марте 2024 житель тратил </a:t>
            </a:r>
            <a:r>
              <a:rPr lang="en-US" sz="14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26 600 ₽</a:t>
            </a:r>
            <a:r>
              <a:rPr lang="en-US" sz="14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Сам муниципалитет за последние 3 месяца вырос на 12%, все муниципалитеты категории — на 14%. Берём среднее: </a:t>
            </a:r>
            <a:r>
              <a:rPr lang="en-US" sz="14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+13%</a:t>
            </a:r>
            <a:r>
              <a:rPr lang="en-US" sz="14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2200" y="4876800"/>
            <a:ext cx="47353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7C7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26 600 × 1,13 ≈ 30 100 ₽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23000" y="3083559"/>
            <a:ext cx="5156200" cy="2339340"/>
          </a:xfrm>
          <a:prstGeom prst="roundRect">
            <a:avLst>
              <a:gd name="adj" fmla="val 3257"/>
            </a:avLst>
          </a:prstGeom>
          <a:solidFill>
            <a:srgbClr val="FBFA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02400" y="3362959"/>
            <a:ext cx="473532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Почему так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2400" y="3708400"/>
            <a:ext cx="473532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«Тот же месяц»</a:t>
            </a:r>
            <a:r>
              <a:rPr lang="en-US" sz="14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сезонность учитывается сама: декабрь сравниваем с декабрём.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02400" y="4343400"/>
            <a:ext cx="473532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«Среднее двух ростов»</a:t>
            </a:r>
            <a:r>
              <a:rPr lang="en-US" sz="14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рост маленького муниципалитета скачет; рост всех остальных его успокаивает.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· КАК ПРОВЕРЯЛИ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2"/>
            <a:ext cx="10883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Прогноз «из прошлого» — 11 раз подряд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7061"/>
            <a:ext cx="9810751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Делаем вид, что сейчас январь 2024: модель видит только прошлое и прогнозирует будущее, потом сверяем с фактом. Сдвигаемся на месяц и повторяем — с января по ноябрь 2024.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76733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Проверка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33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7" name="Shape 5"/>
          <p:cNvSpPr/>
          <p:nvPr/>
        </p:nvSpPr>
        <p:spPr>
          <a:xfrm>
            <a:off x="2514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8" name="Shape 6"/>
          <p:cNvSpPr/>
          <p:nvPr/>
        </p:nvSpPr>
        <p:spPr>
          <a:xfrm>
            <a:off x="2895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9" name="Shape 7"/>
          <p:cNvSpPr/>
          <p:nvPr/>
        </p:nvSpPr>
        <p:spPr>
          <a:xfrm>
            <a:off x="3276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11" name="Shape 9"/>
          <p:cNvSpPr/>
          <p:nvPr/>
        </p:nvSpPr>
        <p:spPr>
          <a:xfrm>
            <a:off x="4038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9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14" name="Shape 12"/>
          <p:cNvSpPr/>
          <p:nvPr/>
        </p:nvSpPr>
        <p:spPr>
          <a:xfrm>
            <a:off x="5181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15" name="Shape 13"/>
          <p:cNvSpPr/>
          <p:nvPr/>
        </p:nvSpPr>
        <p:spPr>
          <a:xfrm>
            <a:off x="5562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17" name="Shape 15"/>
          <p:cNvSpPr/>
          <p:nvPr/>
        </p:nvSpPr>
        <p:spPr>
          <a:xfrm>
            <a:off x="6324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18" name="Shape 16"/>
          <p:cNvSpPr/>
          <p:nvPr/>
        </p:nvSpPr>
        <p:spPr>
          <a:xfrm>
            <a:off x="6705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0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/>
        </p:spPr>
      </p:sp>
      <p:sp>
        <p:nvSpPr>
          <p:cNvPr id="20" name="Shape 18"/>
          <p:cNvSpPr/>
          <p:nvPr/>
        </p:nvSpPr>
        <p:spPr>
          <a:xfrm>
            <a:off x="7467601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21" name="Shape 19"/>
          <p:cNvSpPr/>
          <p:nvPr/>
        </p:nvSpPr>
        <p:spPr>
          <a:xfrm>
            <a:off x="7848601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1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23" name="Shape 21"/>
          <p:cNvSpPr/>
          <p:nvPr/>
        </p:nvSpPr>
        <p:spPr>
          <a:xfrm>
            <a:off x="8610601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24" name="Shape 22"/>
          <p:cNvSpPr/>
          <p:nvPr/>
        </p:nvSpPr>
        <p:spPr>
          <a:xfrm>
            <a:off x="8991601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25" name="Shape 23"/>
          <p:cNvSpPr/>
          <p:nvPr/>
        </p:nvSpPr>
        <p:spPr>
          <a:xfrm>
            <a:off x="9372601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26" name="Shape 24"/>
          <p:cNvSpPr/>
          <p:nvPr/>
        </p:nvSpPr>
        <p:spPr>
          <a:xfrm>
            <a:off x="9753601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34601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15601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896601" y="27343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30" name="Text 28"/>
          <p:cNvSpPr/>
          <p:nvPr/>
        </p:nvSpPr>
        <p:spPr>
          <a:xfrm>
            <a:off x="812800" y="313563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Проверка 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133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32" name="Shape 30"/>
          <p:cNvSpPr/>
          <p:nvPr/>
        </p:nvSpPr>
        <p:spPr>
          <a:xfrm>
            <a:off x="2514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33" name="Shape 31"/>
          <p:cNvSpPr/>
          <p:nvPr/>
        </p:nvSpPr>
        <p:spPr>
          <a:xfrm>
            <a:off x="2895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34" name="Shape 32"/>
          <p:cNvSpPr/>
          <p:nvPr/>
        </p:nvSpPr>
        <p:spPr>
          <a:xfrm>
            <a:off x="3276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36" name="Shape 34"/>
          <p:cNvSpPr/>
          <p:nvPr/>
        </p:nvSpPr>
        <p:spPr>
          <a:xfrm>
            <a:off x="4038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37" name="Shape 35"/>
          <p:cNvSpPr/>
          <p:nvPr/>
        </p:nvSpPr>
        <p:spPr>
          <a:xfrm>
            <a:off x="4419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38" name="Shape 36"/>
          <p:cNvSpPr/>
          <p:nvPr/>
        </p:nvSpPr>
        <p:spPr>
          <a:xfrm>
            <a:off x="4800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39" name="Shape 37"/>
          <p:cNvSpPr/>
          <p:nvPr/>
        </p:nvSpPr>
        <p:spPr>
          <a:xfrm>
            <a:off x="5181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40" name="Shape 38"/>
          <p:cNvSpPr/>
          <p:nvPr/>
        </p:nvSpPr>
        <p:spPr>
          <a:xfrm>
            <a:off x="5562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42" name="Shape 40"/>
          <p:cNvSpPr/>
          <p:nvPr/>
        </p:nvSpPr>
        <p:spPr>
          <a:xfrm>
            <a:off x="6324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43" name="Shape 41"/>
          <p:cNvSpPr/>
          <p:nvPr/>
        </p:nvSpPr>
        <p:spPr>
          <a:xfrm>
            <a:off x="6705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44" name="Shape 42"/>
          <p:cNvSpPr/>
          <p:nvPr/>
        </p:nvSpPr>
        <p:spPr>
          <a:xfrm>
            <a:off x="7086600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45" name="Shape 43"/>
          <p:cNvSpPr/>
          <p:nvPr/>
        </p:nvSpPr>
        <p:spPr>
          <a:xfrm>
            <a:off x="7467601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/>
        </p:spPr>
      </p:sp>
      <p:sp>
        <p:nvSpPr>
          <p:cNvPr id="46" name="Shape 44"/>
          <p:cNvSpPr/>
          <p:nvPr/>
        </p:nvSpPr>
        <p:spPr>
          <a:xfrm>
            <a:off x="7848601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47" name="Shape 45"/>
          <p:cNvSpPr/>
          <p:nvPr/>
        </p:nvSpPr>
        <p:spPr>
          <a:xfrm>
            <a:off x="8229601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48" name="Shape 46"/>
          <p:cNvSpPr/>
          <p:nvPr/>
        </p:nvSpPr>
        <p:spPr>
          <a:xfrm>
            <a:off x="8610601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49" name="Shape 47"/>
          <p:cNvSpPr/>
          <p:nvPr/>
        </p:nvSpPr>
        <p:spPr>
          <a:xfrm>
            <a:off x="8991601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50" name="Shape 48"/>
          <p:cNvSpPr/>
          <p:nvPr/>
        </p:nvSpPr>
        <p:spPr>
          <a:xfrm>
            <a:off x="9372601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51" name="Shape 49"/>
          <p:cNvSpPr/>
          <p:nvPr/>
        </p:nvSpPr>
        <p:spPr>
          <a:xfrm>
            <a:off x="9753601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34601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53" name="Shape 51"/>
          <p:cNvSpPr/>
          <p:nvPr/>
        </p:nvSpPr>
        <p:spPr>
          <a:xfrm>
            <a:off x="10515601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896601" y="31026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DDD9CF"/>
          </a:solidFill>
          <a:ln/>
        </p:spPr>
      </p:sp>
      <p:sp>
        <p:nvSpPr>
          <p:cNvPr id="55" name="Text 53"/>
          <p:cNvSpPr/>
          <p:nvPr/>
        </p:nvSpPr>
        <p:spPr>
          <a:xfrm>
            <a:off x="812800" y="350393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… Проверка 11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133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57" name="Shape 55"/>
          <p:cNvSpPr/>
          <p:nvPr/>
        </p:nvSpPr>
        <p:spPr>
          <a:xfrm>
            <a:off x="2514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58" name="Shape 56"/>
          <p:cNvSpPr/>
          <p:nvPr/>
        </p:nvSpPr>
        <p:spPr>
          <a:xfrm>
            <a:off x="2895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59" name="Shape 57"/>
          <p:cNvSpPr/>
          <p:nvPr/>
        </p:nvSpPr>
        <p:spPr>
          <a:xfrm>
            <a:off x="3276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60" name="Shape 58"/>
          <p:cNvSpPr/>
          <p:nvPr/>
        </p:nvSpPr>
        <p:spPr>
          <a:xfrm>
            <a:off x="3657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61" name="Shape 59"/>
          <p:cNvSpPr/>
          <p:nvPr/>
        </p:nvSpPr>
        <p:spPr>
          <a:xfrm>
            <a:off x="4038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62" name="Shape 60"/>
          <p:cNvSpPr/>
          <p:nvPr/>
        </p:nvSpPr>
        <p:spPr>
          <a:xfrm>
            <a:off x="4419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63" name="Shape 61"/>
          <p:cNvSpPr/>
          <p:nvPr/>
        </p:nvSpPr>
        <p:spPr>
          <a:xfrm>
            <a:off x="4800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64" name="Shape 62"/>
          <p:cNvSpPr/>
          <p:nvPr/>
        </p:nvSpPr>
        <p:spPr>
          <a:xfrm>
            <a:off x="5181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65" name="Shape 63"/>
          <p:cNvSpPr/>
          <p:nvPr/>
        </p:nvSpPr>
        <p:spPr>
          <a:xfrm>
            <a:off x="5562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66" name="Shape 64"/>
          <p:cNvSpPr/>
          <p:nvPr/>
        </p:nvSpPr>
        <p:spPr>
          <a:xfrm>
            <a:off x="5943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67" name="Shape 65"/>
          <p:cNvSpPr/>
          <p:nvPr/>
        </p:nvSpPr>
        <p:spPr>
          <a:xfrm>
            <a:off x="6324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68" name="Shape 66"/>
          <p:cNvSpPr/>
          <p:nvPr/>
        </p:nvSpPr>
        <p:spPr>
          <a:xfrm>
            <a:off x="6705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69" name="Shape 67"/>
          <p:cNvSpPr/>
          <p:nvPr/>
        </p:nvSpPr>
        <p:spPr>
          <a:xfrm>
            <a:off x="7086600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70" name="Shape 68"/>
          <p:cNvSpPr/>
          <p:nvPr/>
        </p:nvSpPr>
        <p:spPr>
          <a:xfrm>
            <a:off x="7467601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71" name="Shape 69"/>
          <p:cNvSpPr/>
          <p:nvPr/>
        </p:nvSpPr>
        <p:spPr>
          <a:xfrm>
            <a:off x="7848601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72" name="Shape 70"/>
          <p:cNvSpPr/>
          <p:nvPr/>
        </p:nvSpPr>
        <p:spPr>
          <a:xfrm>
            <a:off x="8229601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73" name="Shape 71"/>
          <p:cNvSpPr/>
          <p:nvPr/>
        </p:nvSpPr>
        <p:spPr>
          <a:xfrm>
            <a:off x="8610601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74" name="Shape 72"/>
          <p:cNvSpPr/>
          <p:nvPr/>
        </p:nvSpPr>
        <p:spPr>
          <a:xfrm>
            <a:off x="8991601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75" name="Shape 73"/>
          <p:cNvSpPr/>
          <p:nvPr/>
        </p:nvSpPr>
        <p:spPr>
          <a:xfrm>
            <a:off x="9372601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76" name="Shape 74"/>
          <p:cNvSpPr/>
          <p:nvPr/>
        </p:nvSpPr>
        <p:spPr>
          <a:xfrm>
            <a:off x="9753601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77" name="Shape 75"/>
          <p:cNvSpPr/>
          <p:nvPr/>
        </p:nvSpPr>
        <p:spPr>
          <a:xfrm>
            <a:off x="10134601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78" name="Shape 76"/>
          <p:cNvSpPr/>
          <p:nvPr/>
        </p:nvSpPr>
        <p:spPr>
          <a:xfrm>
            <a:off x="10515601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F1B2D"/>
          </a:solidFill>
          <a:ln/>
        </p:spPr>
      </p:sp>
      <p:sp>
        <p:nvSpPr>
          <p:cNvPr id="79" name="Shape 77"/>
          <p:cNvSpPr/>
          <p:nvPr/>
        </p:nvSpPr>
        <p:spPr>
          <a:xfrm>
            <a:off x="10896601" y="3470911"/>
            <a:ext cx="330200" cy="279400"/>
          </a:xfrm>
          <a:prstGeom prst="roundRect">
            <a:avLst>
              <a:gd name="adj" fmla="val 13636"/>
            </a:avLst>
          </a:prstGeom>
          <a:solidFill>
            <a:srgbClr val="0E7C7B"/>
          </a:solidFill>
          <a:ln/>
        </p:spPr>
      </p:sp>
      <p:sp>
        <p:nvSpPr>
          <p:cNvPr id="80" name="Text 78"/>
          <p:cNvSpPr/>
          <p:nvPr/>
        </p:nvSpPr>
        <p:spPr>
          <a:xfrm>
            <a:off x="2133600" y="3890011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■</a:t>
            </a:r>
            <a:r>
              <a:rPr lang="en-US" sz="12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модель это видит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3810000" y="3890011"/>
            <a:ext cx="233121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E7C7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■</a:t>
            </a:r>
            <a:r>
              <a:rPr lang="en-US" sz="12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прогноз сверяем с фактом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141218" y="3890011"/>
            <a:ext cx="16179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B4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■</a:t>
            </a:r>
            <a:r>
              <a:rPr lang="en-US" sz="12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будущее, скрыто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759145" y="3890011"/>
            <a:ext cx="25013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январь 2023 → декабрь 2024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31850" y="4408171"/>
            <a:ext cx="0" cy="824230"/>
          </a:xfrm>
          <a:prstGeom prst="line">
            <a:avLst/>
          </a:prstGeom>
          <a:noFill/>
          <a:ln w="38100">
            <a:solidFill>
              <a:srgbClr val="D1495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27853" y="4433571"/>
            <a:ext cx="5089381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Почему не одна проверка.</a:t>
            </a:r>
            <a:r>
              <a:rPr lang="en-US" sz="14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По одному месяцу «лучшей» оказывается случайная модель — так было в первой версии проекта.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6242050" y="4408171"/>
            <a:ext cx="0" cy="82423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38054" y="4433571"/>
            <a:ext cx="5089381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Без подгонки под ответ.</a:t>
            </a:r>
            <a:r>
              <a:rPr lang="en-US" sz="14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Модель выбрана по первым 5 проверкам, а оценена по следующим 6.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49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b="1" spc="200" kern="0" dirty="0">
                <a:solidFill>
                  <a:srgbClr val="0E7C7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· РЕЗУЛЬТАТ</a:t>
            </a:r>
            <a:endParaRPr lang="en-US" sz="1268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38396"/>
            <a:ext cx="10883393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55"/>
              </a:lnSpc>
              <a:buNone/>
            </a:pPr>
            <a:r>
              <a:rPr lang="en-US" sz="2713" b="1" i="0" dirty="0">
                <a:solidFill>
                  <a:srgbClr val="0F1B2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Ошибка меньше, чем у Prophet, на всех горизонтах</a:t>
            </a:r>
            <a:endParaRPr lang="en-US" sz="2713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653" y="2256736"/>
          <a:ext cx="10554547" cy="2554261"/>
        </p:xfrm>
        <a:graphic>
          <a:graphicData uri="http://schemas.openxmlformats.org/drawingml/2006/table">
            <a:tbl>
              <a:tblPr/>
              <a:tblGrid>
                <a:gridCol w="2110909"/>
                <a:gridCol w="1899819"/>
                <a:gridCol w="2110909"/>
                <a:gridCol w="1899819"/>
                <a:gridCol w="2533091"/>
              </a:tblGrid>
              <a:tr h="510831">
                <a:tc>
                  <a:txBody>
                    <a:bodyPr/>
                    <a:lstStyle/>
                    <a:p>
                      <a:pPr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b="1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Горизонт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b="1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Prophet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b="1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Chronos-Bolt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b="1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Наша модель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b="1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Наша ошибка меньше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510858">
                <a:tc>
                  <a:txBody>
                    <a:bodyPr/>
                    <a:lstStyle/>
                    <a:p>
                      <a:pPr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 месяц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449 ₽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645 ₽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E7C7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358 ₽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на 20%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858">
                <a:tc>
                  <a:txBody>
                    <a:bodyPr/>
                    <a:lstStyle/>
                    <a:p>
                      <a:pPr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 месяца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499 ₽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1017 ₽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E7C7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479 ₽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на 4% · паритет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</a:tr>
              <a:tr h="510858">
                <a:tc>
                  <a:txBody>
                    <a:bodyPr/>
                    <a:lstStyle/>
                    <a:p>
                      <a:pPr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 месяцев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607 ₽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1608 ₽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E7C7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564 ₽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на 7%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858">
                <a:tc>
                  <a:txBody>
                    <a:bodyPr/>
                    <a:lstStyle/>
                    <a:p>
                      <a:pPr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12 месяцев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2577 ₽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3319 ₽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E7C7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1386 ₽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365"/>
                        </a:lnSpc>
                        <a:buNone/>
                      </a:pPr>
                      <a:r>
                        <a:rPr lang="en-US" sz="1689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на 46% · 1 проверка</a:t>
                      </a:r>
                      <a:endParaRPr lang="en-US" sz="1689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5093" marR="75093" marT="75093" marB="75093" anchor="t">
                    <a:lnL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090396"/>
            <a:ext cx="10464801" cy="77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2"/>
              </a:lnSpc>
              <a:buNone/>
            </a:pPr>
            <a:r>
              <a:rPr lang="en-US" sz="1374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Числа — MAE: на сколько рублей на жителя в месяц прогноз в среднем промахивается. Все модели — на одних и тех же 600 рядах и в одних и тех же проверках. На 3 месяца выигрыш мал и неустойчив, поэтому честно называем его паритетом.</a:t>
            </a:r>
            <a:endParaRPr lang="en-US" sz="1374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10883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R² у сильных моделей 0,97–0,99 и почти не различает их: большую часть разброса объясняет разница уровней между муниципалитетами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5FD3C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· ПОЧЕМУ НАШ ПОДХОД ЛУЧШЕ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9"/>
            <a:ext cx="10883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4F1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Каждая альтернатива чего-то не видит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927861"/>
            <a:ext cx="5363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«Как год назад», без роста · 1320 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240279"/>
            <a:ext cx="5207000" cy="228600"/>
          </a:xfrm>
          <a:prstGeom prst="roundRect">
            <a:avLst>
              <a:gd name="adj" fmla="val 16667"/>
            </a:avLst>
          </a:prstGeom>
          <a:solidFill>
            <a:srgbClr val="5B6675"/>
          </a:solidFill>
          <a:ln/>
        </p:spPr>
      </p:sp>
      <p:sp>
        <p:nvSpPr>
          <p:cNvPr id="6" name="Text 4"/>
          <p:cNvSpPr/>
          <p:nvPr/>
        </p:nvSpPr>
        <p:spPr>
          <a:xfrm>
            <a:off x="6426200" y="1967229"/>
            <a:ext cx="51015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CE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Сезонность видит, а рост цен — нет: прогноз всегда занижен на 9–35%.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2697479"/>
            <a:ext cx="5363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Chronos-Bolt · 645 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3009900"/>
            <a:ext cx="2546350" cy="228600"/>
          </a:xfrm>
          <a:prstGeom prst="roundRect">
            <a:avLst>
              <a:gd name="adj" fmla="val 16667"/>
            </a:avLst>
          </a:prstGeom>
          <a:solidFill>
            <a:srgbClr val="8C96A3"/>
          </a:solidFill>
          <a:ln/>
        </p:spPr>
      </p:sp>
      <p:sp>
        <p:nvSpPr>
          <p:cNvPr id="9" name="Text 7"/>
          <p:cNvSpPr/>
          <p:nvPr/>
        </p:nvSpPr>
        <p:spPr>
          <a:xfrm>
            <a:off x="6426200" y="2736850"/>
            <a:ext cx="51015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CE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Нейросеть, обученная на чужих рядах. Истории меньше двух лет — сезонность не разглядеть.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3467100"/>
            <a:ext cx="5363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4F1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Prophet · 449 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779518"/>
            <a:ext cx="1771650" cy="228600"/>
          </a:xfrm>
          <a:prstGeom prst="roundRect">
            <a:avLst>
              <a:gd name="adj" fmla="val 16667"/>
            </a:avLst>
          </a:prstGeom>
          <a:solidFill>
            <a:srgbClr val="F28B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26200" y="3506468"/>
            <a:ext cx="51015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CE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Строит модель для каждого ряда отдельно по 12–23 точкам — для годового цикла мало.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4236718"/>
            <a:ext cx="5363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FD3C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Наша модель · 358 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4549139"/>
            <a:ext cx="1409700" cy="228600"/>
          </a:xfrm>
          <a:prstGeom prst="roundRect">
            <a:avLst>
              <a:gd name="adj" fmla="val 16667"/>
            </a:avLst>
          </a:prstGeom>
          <a:solidFill>
            <a:srgbClr val="2BB3A3"/>
          </a:solidFill>
          <a:ln/>
        </p:spPr>
      </p:sp>
      <p:sp>
        <p:nvSpPr>
          <p:cNvPr id="15" name="Text 13"/>
          <p:cNvSpPr/>
          <p:nvPr/>
        </p:nvSpPr>
        <p:spPr>
          <a:xfrm>
            <a:off x="6426200" y="4276089"/>
            <a:ext cx="51015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1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Сезонность — из прошлого года, рост — из всех 2016 муниципалитетов сразу.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39"/>
            <a:ext cx="10883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6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Длина полосы — средняя ошибка прогноза на месяц вперёд (MAE), чем короче, тем лучше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D1495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· ЧТО ТАКОЕ ШОК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9"/>
            <a:ext cx="10883393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Шок — когда муниципалитет отрывается от остальных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252979"/>
            <a:ext cx="3386667" cy="1630680"/>
          </a:xfrm>
          <a:prstGeom prst="roundRect">
            <a:avLst>
              <a:gd name="adj" fmla="val 4673"/>
            </a:avLst>
          </a:prstGeom>
          <a:solidFill>
            <a:srgbClr val="FBFAF6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252979"/>
            <a:ext cx="3386667" cy="1630680"/>
          </a:xfrm>
          <a:custGeom>
            <a:avLst/>
            <a:gdLst/>
            <a:ahLst/>
            <a:cxnLst/>
            <a:rect l="l" t="t" r="r" b="b"/>
            <a:pathLst>
              <a:path w="3386667" h="16306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67" y="0"/>
                </a:lnTo>
                <a:arcTo hR="76200" wR="76200" stAng="16200000" swAng="5400000"/>
                <a:lnTo>
                  <a:pt x="3386667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9AA3A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506979"/>
            <a:ext cx="306967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 ШОК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6000" y="2827018"/>
            <a:ext cx="306967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декабре все потратили на 20% больше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16000" y="3449318"/>
            <a:ext cx="306967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Это сезонность — общая для всех.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2667" y="2252979"/>
            <a:ext cx="3386667" cy="1630680"/>
          </a:xfrm>
          <a:prstGeom prst="roundRect">
            <a:avLst>
              <a:gd name="adj" fmla="val 4673"/>
            </a:avLst>
          </a:prstGeom>
          <a:solidFill>
            <a:srgbClr val="FBFAF6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67" y="2252979"/>
            <a:ext cx="3386667" cy="1630680"/>
          </a:xfrm>
          <a:custGeom>
            <a:avLst/>
            <a:gdLst/>
            <a:ahLst/>
            <a:cxnLst/>
            <a:rect l="l" t="t" r="r" b="b"/>
            <a:pathLst>
              <a:path w="3386667" h="16306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67" y="0"/>
                </a:lnTo>
                <a:arcTo hR="76200" wR="76200" stAng="16200000" swAng="5400000"/>
                <a:lnTo>
                  <a:pt x="3386667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9AA3AF"/>
          </a:solidFill>
          <a:ln/>
        </p:spPr>
      </p:sp>
      <p:sp>
        <p:nvSpPr>
          <p:cNvPr id="11" name="Text 9"/>
          <p:cNvSpPr/>
          <p:nvPr/>
        </p:nvSpPr>
        <p:spPr>
          <a:xfrm>
            <a:off x="4605867" y="2506979"/>
            <a:ext cx="306967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 ШОК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05867" y="2827018"/>
            <a:ext cx="306967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 год траты всех выросли на 14%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5867" y="3449318"/>
            <a:ext cx="306967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Это инфляция и рост доходов.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92534" y="2252979"/>
            <a:ext cx="3386667" cy="1630680"/>
          </a:xfrm>
          <a:prstGeom prst="roundRect">
            <a:avLst>
              <a:gd name="adj" fmla="val 4673"/>
            </a:avLst>
          </a:prstGeom>
          <a:solidFill>
            <a:srgbClr val="FBFA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992534" y="2252979"/>
            <a:ext cx="3386667" cy="1630680"/>
          </a:xfrm>
          <a:custGeom>
            <a:avLst/>
            <a:gdLst/>
            <a:ahLst/>
            <a:cxnLst/>
            <a:rect l="l" t="t" r="r" b="b"/>
            <a:pathLst>
              <a:path w="3386667" h="163068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67" y="0"/>
                </a:lnTo>
                <a:arcTo hR="76200" wR="76200" stAng="16200000" swAng="5400000"/>
                <a:lnTo>
                  <a:pt x="3386667" y="76200"/>
                </a:lnTo>
                <a:arcTo hR="25400" wR="76200" stAng="0" swAng="-5400000"/>
                <a:lnTo>
                  <a:pt x="76200" y="50800"/>
                </a:lnTo>
                <a:arcTo hR="25400" wR="76200" stAng="16200000" swAng="-5400000"/>
                <a:close/>
              </a:path>
            </a:pathLst>
          </a:custGeom>
          <a:solidFill>
            <a:srgbClr val="D1495B"/>
          </a:solidFill>
          <a:ln/>
        </p:spPr>
      </p:sp>
      <p:sp>
        <p:nvSpPr>
          <p:cNvPr id="16" name="Text 14"/>
          <p:cNvSpPr/>
          <p:nvPr/>
        </p:nvSpPr>
        <p:spPr>
          <a:xfrm>
            <a:off x="8195734" y="2506979"/>
            <a:ext cx="306967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83A4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ШОК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95734" y="2827018"/>
            <a:ext cx="306967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одном городе траты упали на 15%, у остальных — нет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95734" y="3449318"/>
            <a:ext cx="306967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Что-то случилось именно здесь.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800" y="4137661"/>
            <a:ext cx="10566401" cy="1280160"/>
          </a:xfrm>
          <a:prstGeom prst="roundRect">
            <a:avLst>
              <a:gd name="adj" fmla="val 5952"/>
            </a:avLst>
          </a:prstGeom>
          <a:solidFill>
            <a:srgbClr val="E4EFEC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" y="4366261"/>
            <a:ext cx="10307829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отделяем.</a:t>
            </a:r>
            <a:r>
              <a:rPr lang="en-US" sz="1400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Из трат муниципалитета вычитаем его обычный уровень и то, что в этом месяце случилось со всеми. Остаток — «отклонение от остальных»; шок — его резкий и устойчивый сдвиг.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2200" y="4958082"/>
            <a:ext cx="1030782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 эконометрике это остаток модели с фиксированными эффектами муниципалитета и месяца (two-way FE).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D1495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 · РАННЕЕ ОБНАРУЖЕНИЕ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42"/>
            <a:ext cx="10883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Замечаем шок в тот же месяц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26264"/>
            <a:ext cx="10464801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Наш детектор «сдвиг окна»:</a:t>
            </a:r>
            <a:r>
              <a:rPr lang="en-US" sz="15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каждый месяц сравниваем свежее отклонение муниципалитета со средним за полгода до него. Разница больше порога — тревога.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653" y="2644567"/>
          <a:ext cx="10554547" cy="1754294"/>
        </p:xfrm>
        <a:graphic>
          <a:graphicData uri="http://schemas.openxmlformats.org/drawingml/2006/table">
            <a:tbl>
              <a:tblPr/>
              <a:tblGrid>
                <a:gridCol w="2744182"/>
                <a:gridCol w="2110909"/>
                <a:gridCol w="1794273"/>
                <a:gridCol w="1794273"/>
                <a:gridCol w="2110909"/>
              </a:tblGrid>
              <a:tr h="43857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Метод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Когда работает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Скачок 10%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Скачок 20%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Задержка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3857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E7C7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Сдвиг окна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сразу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E7C7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32%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E7C7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60%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E7C7B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до 0,3 мес.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57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CUSUM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сразу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7%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24%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~2 мес.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DC"/>
                    </a:solidFill>
                  </a:tcPr>
                </a:tc>
              </a:tr>
              <a:tr h="438573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PELT / BinSeg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задним числом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35%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65%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—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652857"/>
            <a:ext cx="10464801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сравнивали:</a:t>
            </a:r>
            <a:r>
              <a:rPr lang="en-US" sz="14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в 3000 настоящих рядов искусственно добавили скачок в случайный месяц и посчитали, какую долю скачков нашёл каждый метод. Пороги подобраны так, чтобы у всех было одинаково 10% ложных тревог.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10883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PELT оставляем для подтверждения задним числом: его находки совпадают с нашими тревогами в 2 раза чаще случайного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D1495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 · НОВОСТИ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6"/>
            <a:ext cx="10883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Новость подсказывает, куда смотреть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51658"/>
            <a:ext cx="2032000" cy="1325033"/>
          </a:xfrm>
          <a:prstGeom prst="roundRect">
            <a:avLst>
              <a:gd name="adj" fmla="val 5751"/>
            </a:avLst>
          </a:prstGeom>
          <a:solidFill>
            <a:srgbClr val="FBFAF6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51658"/>
            <a:ext cx="2032000" cy="1325033"/>
          </a:xfrm>
          <a:custGeom>
            <a:avLst/>
            <a:gdLst/>
            <a:ahLst/>
            <a:cxnLst/>
            <a:rect l="l" t="t" r="r" b="b"/>
            <a:pathLst>
              <a:path w="2032000" h="1325033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55800" y="0"/>
                </a:lnTo>
                <a:arcTo hR="76200" wR="76200" stAng="16200000" swAng="5400000"/>
                <a:lnTo>
                  <a:pt x="203200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066708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 Где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358808"/>
            <a:ext cx="17272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находим название муниципалитета в тексте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46400" y="1851658"/>
            <a:ext cx="2032000" cy="1325033"/>
          </a:xfrm>
          <a:prstGeom prst="roundRect">
            <a:avLst>
              <a:gd name="adj" fmla="val 5751"/>
            </a:avLst>
          </a:prstGeom>
          <a:solidFill>
            <a:srgbClr val="FBFAF6"/>
          </a:solidFill>
          <a:ln/>
        </p:spPr>
      </p:sp>
      <p:sp>
        <p:nvSpPr>
          <p:cNvPr id="9" name="Shape 7"/>
          <p:cNvSpPr/>
          <p:nvPr/>
        </p:nvSpPr>
        <p:spPr>
          <a:xfrm>
            <a:off x="2946400" y="1851658"/>
            <a:ext cx="2032000" cy="1325033"/>
          </a:xfrm>
          <a:custGeom>
            <a:avLst/>
            <a:gdLst/>
            <a:ahLst/>
            <a:cxnLst/>
            <a:rect l="l" t="t" r="r" b="b"/>
            <a:pathLst>
              <a:path w="2032000" h="1325033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55800" y="0"/>
                </a:lnTo>
                <a:arcTo hR="76200" wR="76200" stAng="16200000" swAng="5400000"/>
                <a:lnTo>
                  <a:pt x="203200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3124200" y="2066708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 Что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24200" y="2358808"/>
            <a:ext cx="17272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тип события: закрытие завода, ЧС, новый ТЦ…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80000" y="1851658"/>
            <a:ext cx="2032000" cy="1325033"/>
          </a:xfrm>
          <a:prstGeom prst="roundRect">
            <a:avLst>
              <a:gd name="adj" fmla="val 5751"/>
            </a:avLst>
          </a:prstGeom>
          <a:solidFill>
            <a:srgbClr val="FBFA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80000" y="1851658"/>
            <a:ext cx="2032000" cy="1325033"/>
          </a:xfrm>
          <a:custGeom>
            <a:avLst/>
            <a:gdLst/>
            <a:ahLst/>
            <a:cxnLst/>
            <a:rect l="l" t="t" r="r" b="b"/>
            <a:pathLst>
              <a:path w="2032000" h="1325033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55800" y="0"/>
                </a:lnTo>
                <a:arcTo hR="76200" wR="76200" stAng="16200000" swAng="5400000"/>
                <a:lnTo>
                  <a:pt x="203200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066708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 Когда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2358808"/>
            <a:ext cx="17272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месяц публикации; анонс — в месяц события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13600" y="1851658"/>
            <a:ext cx="2032000" cy="1325033"/>
          </a:xfrm>
          <a:prstGeom prst="roundRect">
            <a:avLst>
              <a:gd name="adj" fmla="val 5751"/>
            </a:avLst>
          </a:prstGeom>
          <a:solidFill>
            <a:srgbClr val="FBFA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213600" y="1851658"/>
            <a:ext cx="2032000" cy="1325033"/>
          </a:xfrm>
          <a:custGeom>
            <a:avLst/>
            <a:gdLst/>
            <a:ahLst/>
            <a:cxnLst/>
            <a:rect l="l" t="t" r="r" b="b"/>
            <a:pathLst>
              <a:path w="2032000" h="1325033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55800" y="0"/>
                </a:lnTo>
                <a:arcTo hR="76200" wR="76200" stAng="16200000" swAng="5400000"/>
                <a:lnTo>
                  <a:pt x="203200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7391400" y="2066708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 Как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91400" y="2358808"/>
            <a:ext cx="17272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 3 месяца вдвое снижаем порог тревоги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47201" y="1851658"/>
            <a:ext cx="2032000" cy="1325033"/>
          </a:xfrm>
          <a:prstGeom prst="roundRect">
            <a:avLst>
              <a:gd name="adj" fmla="val 5751"/>
            </a:avLst>
          </a:prstGeom>
          <a:solidFill>
            <a:srgbClr val="FBFAF6"/>
          </a:solidFill>
          <a:ln/>
        </p:spPr>
      </p:sp>
      <p:sp>
        <p:nvSpPr>
          <p:cNvPr id="21" name="Shape 19"/>
          <p:cNvSpPr/>
          <p:nvPr/>
        </p:nvSpPr>
        <p:spPr>
          <a:xfrm>
            <a:off x="9347201" y="1851658"/>
            <a:ext cx="2032000" cy="1325033"/>
          </a:xfrm>
          <a:custGeom>
            <a:avLst/>
            <a:gdLst/>
            <a:ahLst/>
            <a:cxnLst/>
            <a:rect l="l" t="t" r="r" b="b"/>
            <a:pathLst>
              <a:path w="2032000" h="1325033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55800" y="0"/>
                </a:lnTo>
                <a:arcTo hR="76200" wR="76200" stAng="16200000" swAng="5400000"/>
                <a:lnTo>
                  <a:pt x="203200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9525001" y="2066708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5. Проверка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25001" y="2358808"/>
            <a:ext cx="172720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траты до и после новости против случайных дат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3456093"/>
            <a:ext cx="41678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0E7C7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32% → 47%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12800" y="4014893"/>
            <a:ext cx="376967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найденных скачков на 10%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0676" y="3456093"/>
            <a:ext cx="452072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0E7C7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60% → 70%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4980676" y="4014893"/>
            <a:ext cx="388028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найденных скачков на 20%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4525429"/>
            <a:ext cx="108833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…если новость была хотя бы о 60% шоков. Ложных тревог по-прежнему 10%: порог учитывает и ложные новости.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36"/>
            <a:ext cx="108833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Это симуляция: реальной ленты новостей по муниципалитетам нет. Код для реальных новостей готов; нужен справочник «код → название»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· ГДЕ ПРОГНОЗУ ВЕРИТЬ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6"/>
            <a:ext cx="10883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0F1B2D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типа муниципалитетов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7058"/>
            <a:ext cx="10464801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Сгруппировали муниципалитеты по тому, на что жители тратят деньги, и посмотрели, где прогноз точнее и где чаще бывают шоки.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697479"/>
            <a:ext cx="3361822" cy="3347720"/>
          </a:xfrm>
          <a:prstGeom prst="roundRect">
            <a:avLst>
              <a:gd name="adj" fmla="val 3035"/>
            </a:avLst>
          </a:prstGeom>
          <a:solidFill>
            <a:srgbClr val="FBFAF6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951479"/>
            <a:ext cx="293943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«Массовый»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6800" y="3312158"/>
            <a:ext cx="293943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1529 МО · 21 500 ₽ в месяц · почти половина — продукты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3876036"/>
            <a:ext cx="2939437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Обычная точность прогноза, 1,6 сигнала шока на муниципалитет за год.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7348" y="2707004"/>
            <a:ext cx="3380052" cy="3328670"/>
          </a:xfrm>
          <a:prstGeom prst="roundRect">
            <a:avLst>
              <a:gd name="adj" fmla="val 2766"/>
            </a:avLst>
          </a:prstGeom>
          <a:solidFill>
            <a:srgbClr val="FBFAF6"/>
          </a:solidFill>
          <a:ln w="19050">
            <a:solidFill>
              <a:srgbClr val="D149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0449" y="2970107"/>
            <a:ext cx="2939464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«Обеспеченная периферия»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50449" y="3589865"/>
            <a:ext cx="29394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282 МО · 37 100 ₽ · далеко от крупных рынков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50449" y="4153743"/>
            <a:ext cx="2939464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Больше всего шоков — 2,4 на МО.</a:t>
            </a:r>
            <a:r>
              <a:rPr lang="en-US" sz="1400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Здесь нужен постоянный мониторинг, а не только прогноз.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89650" y="2707004"/>
            <a:ext cx="3380026" cy="3328670"/>
          </a:xfrm>
          <a:prstGeom prst="roundRect">
            <a:avLst>
              <a:gd name="adj" fmla="val 2766"/>
            </a:avLst>
          </a:prstGeom>
          <a:solidFill>
            <a:srgbClr val="FBFAF6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2751" y="2970107"/>
            <a:ext cx="293943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«Городской»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52751" y="3330786"/>
            <a:ext cx="293943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205 МО · 43 400 ₽ · много кафе и ресторанов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52751" y="3894665"/>
            <a:ext cx="2939437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 точнее в 1,4–3 раза</a:t>
            </a:r>
            <a:r>
              <a:rPr lang="en-US" sz="1400" dirty="0">
                <a:solidFill>
                  <a:srgbClr val="0F1B2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шоков почти нет. Можно планировать по прогнозу.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5FD3C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· ИТОГИ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45536"/>
            <a:ext cx="10883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4F1E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получилось и что дальше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927858"/>
            <a:ext cx="341850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5FD3C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Получилось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97763" y="2313936"/>
            <a:ext cx="3325918" cy="1517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E3E8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 точнее Prophet на всех горизонтах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E3E8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Шок замечаем в тот же месяц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E3E8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Готовая схема работы с новостями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E3E8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Всё воспроизводится одним ноутбуком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436533" y="1927858"/>
            <a:ext cx="341850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28B8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Ограничения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21496" y="2313936"/>
            <a:ext cx="3325918" cy="1268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E3E8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Только 24 месяца: год вперёд проверен один раз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E3E8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Все проверки — в год быстрого роста цен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E3E8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Новости оценены на симуляции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60267" y="1927858"/>
            <a:ext cx="3418501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1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Дальше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45230" y="2313936"/>
            <a:ext cx="3325918" cy="1517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E3E8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Справочник названий муниципалитетов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E3E8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Проверка на реальных новостях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E3E8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Дообучить Chronos на наших рядах</a:t>
            </a:r>
            <a:endParaRPr lang="en-US" sz="1350" dirty="0"/>
          </a:p>
          <a:p>
            <a:pPr algn="l" marL="169037" indent="-169037">
              <a:lnSpc>
                <a:spcPts val="1958"/>
              </a:lnSpc>
              <a:buSzPct val="100000"/>
              <a:buChar char="•"/>
            </a:pPr>
            <a:r>
              <a:rPr lang="en-US" sz="1350" dirty="0">
                <a:solidFill>
                  <a:srgbClr val="E3E8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 новыми данными — ансамбль с LightGBM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800" y="5814058"/>
            <a:ext cx="1088339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9AA6B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Код, данные и результаты: SberIndex_project.ipynb · METHODOLOGY.md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берИндекс: прогноз и шоки">
  <a:themeElements>
    <a:clrScheme name="СберИндекс: прогноз и шоки">
      <a:dk1>
        <a:srgbClr val="0F1B2D"/>
      </a:dk1>
      <a:lt1>
        <a:srgbClr val="F4F1EA"/>
      </a:lt1>
      <a:dk2>
        <a:srgbClr val="48515C"/>
      </a:dk2>
      <a:lt2>
        <a:srgbClr val="DDDCD7"/>
      </a:lt2>
      <a:accent1>
        <a:srgbClr val="0E7C7B"/>
      </a:accent1>
      <a:accent2>
        <a:srgbClr val="5FD3C6"/>
      </a:accent2>
      <a:accent3>
        <a:srgbClr val="D1495B"/>
      </a:accent3>
      <a:accent4>
        <a:srgbClr val="2BB3A3"/>
      </a:accent4>
      <a:accent5>
        <a:srgbClr val="F28B82"/>
      </a:accent5>
      <a:accent6>
        <a:srgbClr val="B83A4B"/>
      </a:accent6>
      <a:hlink>
        <a:srgbClr val="0563C1"/>
      </a:hlink>
      <a:folHlink>
        <a:srgbClr val="954F72"/>
      </a:folHlink>
    </a:clrScheme>
    <a:fontScheme name="СберИндекс: прогноз и шоки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СберИндекс: прогноз и шоки</dc:title>
  <dc:subject/>
  <dc:creator/>
  <cp:lastModifiedBy/>
  <cp:revision>1</cp:revision>
  <dcterms:created xsi:type="dcterms:W3CDTF">2026-10-09T15:45:49Z</dcterms:created>
  <dcterms:modified xsi:type="dcterms:W3CDTF">2026-10-09T15:45:49Z</dcterms:modified>
</cp:coreProperties>
</file>